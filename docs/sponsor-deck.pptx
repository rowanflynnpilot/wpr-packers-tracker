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image" Target="../media/image-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image" Target="../media/image-6-2.png"/><Relationship Id="rId3" Type="http://schemas.openxmlformats.org/officeDocument/2006/relationships/image" Target="../media/image-6-3.png"/><Relationship Id="rId4" Type="http://schemas.openxmlformats.org/officeDocument/2006/relationships/image" Target="../media/image-6-4.png"/><Relationship Id="rId5" Type="http://schemas.openxmlformats.org/officeDocument/2006/relationships/image" Target="../media/image-6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037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77724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 PILOT &amp; REVIEW  ·  SPONSORSHIP KIT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188720"/>
            <a:ext cx="4937760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The Packers,</a:t>
            </a:r>
            <a:endParaRPr lang="en-US" sz="4000" dirty="0"/>
          </a:p>
          <a:p>
            <a:pPr indent="0" marL="0">
              <a:lnSpc>
                <a:spcPts val="48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by the numbers</a:t>
            </a:r>
            <a:endParaRPr lang="en-US" sz="4000" dirty="0"/>
          </a:p>
        </p:txBody>
      </p:sp>
      <p:sp>
        <p:nvSpPr>
          <p:cNvPr id="4" name="Text 2"/>
          <p:cNvSpPr/>
          <p:nvPr/>
        </p:nvSpPr>
        <p:spPr>
          <a:xfrm>
            <a:off x="685800" y="2880360"/>
            <a:ext cx="42062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live, season-long Green Bay Packers stats experience inside Wisconsin's most local news brand — with your name on it.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685800" y="452628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wausaupilotandreview.com   ·   sales@wausaupilotandreview.com</a:t>
            </a:r>
            <a:endParaRPr lang="en-US" sz="1050" dirty="0"/>
          </a:p>
        </p:txBody>
      </p:sp>
      <p:sp>
        <p:nvSpPr>
          <p:cNvPr id="6" name="Shape 4"/>
          <p:cNvSpPr/>
          <p:nvPr/>
        </p:nvSpPr>
        <p:spPr>
          <a:xfrm>
            <a:off x="5138928" y="2542032"/>
            <a:ext cx="3529584" cy="1947672"/>
          </a:xfrm>
          <a:prstGeom prst="rect">
            <a:avLst/>
          </a:prstGeom>
          <a:solidFill>
            <a:srgbClr val="FFFFFF"/>
          </a:solidFill>
          <a:ln/>
        </p:spPr>
      </p:sp>
      <p:pic>
        <p:nvPicPr>
          <p:cNvPr id="7" name="Image 0" descr="/home/user/wpr-packers-tracker/public/og-c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212080" y="2615184"/>
            <a:ext cx="3383280" cy="1801368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OPPORTUNITY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Wisconsin's biggest weekly audience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566928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6" name="Text 4"/>
          <p:cNvSpPr/>
          <p:nvPr/>
        </p:nvSpPr>
        <p:spPr>
          <a:xfrm>
            <a:off x="713232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7 days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13232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 anticipation around every game — countdown, injuries, matchup, film room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2651760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2651760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10" name="Text 8"/>
          <p:cNvSpPr/>
          <p:nvPr/>
        </p:nvSpPr>
        <p:spPr>
          <a:xfrm>
            <a:off x="2798064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30s</a:t>
            </a:r>
            <a:endParaRPr lang="en-US" sz="3200" dirty="0"/>
          </a:p>
        </p:txBody>
      </p:sp>
      <p:sp>
        <p:nvSpPr>
          <p:cNvPr id="11" name="Text 9"/>
          <p:cNvSpPr/>
          <p:nvPr/>
        </p:nvSpPr>
        <p:spPr>
          <a:xfrm>
            <a:off x="2798064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refresh — score, situation and win probability are always live</a:t>
            </a:r>
            <a:endParaRPr lang="en-US" sz="1050" dirty="0"/>
          </a:p>
        </p:txBody>
      </p:sp>
      <p:sp>
        <p:nvSpPr>
          <p:cNvPr id="12" name="Shape 10"/>
          <p:cNvSpPr/>
          <p:nvPr/>
        </p:nvSpPr>
        <p:spPr>
          <a:xfrm>
            <a:off x="4736592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3" name="Shape 11"/>
          <p:cNvSpPr/>
          <p:nvPr/>
        </p:nvSpPr>
        <p:spPr>
          <a:xfrm>
            <a:off x="4736592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14" name="Text 12"/>
          <p:cNvSpPr/>
          <p:nvPr/>
        </p:nvSpPr>
        <p:spPr>
          <a:xfrm>
            <a:off x="4882896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5</a:t>
            </a:r>
            <a:endParaRPr lang="en-US" sz="3200" dirty="0"/>
          </a:p>
        </p:txBody>
      </p:sp>
      <p:sp>
        <p:nvSpPr>
          <p:cNvPr id="15" name="Text 13"/>
          <p:cNvSpPr/>
          <p:nvPr/>
        </p:nvSpPr>
        <p:spPr>
          <a:xfrm>
            <a:off x="4882896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 slots on one page, from a section credit to the title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821424" y="1371600"/>
            <a:ext cx="1901952" cy="1481328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6821424" y="1371600"/>
            <a:ext cx="41148" cy="1481328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18" name="Text 16"/>
          <p:cNvSpPr/>
          <p:nvPr/>
        </p:nvSpPr>
        <p:spPr>
          <a:xfrm>
            <a:off x="6967728" y="1481328"/>
            <a:ext cx="164592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2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</a:t>
            </a:r>
            <a:endParaRPr lang="en-US" sz="3200" dirty="0"/>
          </a:p>
        </p:txBody>
      </p:sp>
      <p:sp>
        <p:nvSpPr>
          <p:cNvPr id="19" name="Text 17"/>
          <p:cNvSpPr/>
          <p:nvPr/>
        </p:nvSpPr>
        <p:spPr>
          <a:xfrm>
            <a:off x="6967728" y="2084832"/>
            <a:ext cx="1645920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cookies — no consent banner between a reader and your brand</a:t>
            </a:r>
            <a:endParaRPr lang="en-US" sz="1050" dirty="0"/>
          </a:p>
        </p:txBody>
      </p:sp>
      <p:sp>
        <p:nvSpPr>
          <p:cNvPr id="20" name="Text 18"/>
          <p:cNvSpPr/>
          <p:nvPr/>
        </p:nvSpPr>
        <p:spPr>
          <a:xfrm>
            <a:off x="566928" y="3200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 and gold is the state religion</a:t>
            </a:r>
            <a:endParaRPr lang="en-US" sz="1350" dirty="0"/>
          </a:p>
        </p:txBody>
      </p:sp>
      <p:sp>
        <p:nvSpPr>
          <p:cNvPr id="21" name="Text 19"/>
          <p:cNvSpPr/>
          <p:nvPr/>
        </p:nvSpPr>
        <p:spPr>
          <a:xfrm>
            <a:off x="566928" y="3511296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 Pilot &amp; Review is where central Wisconsin looks first for news — and no team owns this state's attention like the Packers. This page puts your brand inside that Sunday habit, not beside it.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4754880" y="3200400"/>
            <a:ext cx="38404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Editorial quality, not ad clutter</a:t>
            </a:r>
            <a:endParaRPr lang="en-US" sz="1350" dirty="0"/>
          </a:p>
        </p:txBody>
      </p:sp>
      <p:sp>
        <p:nvSpPr>
          <p:cNvPr id="23" name="Text 21"/>
          <p:cNvSpPr/>
          <p:nvPr/>
        </p:nvSpPr>
        <p:spPr>
          <a:xfrm>
            <a:off x="4754880" y="3511296"/>
            <a:ext cx="384048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700"/>
              </a:lnSpc>
              <a:buNone/>
            </a:pPr>
            <a:r>
              <a:rPr lang="en-US" sz="12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designed page — no programmatic ads, no pop-ups. Sponsor lockups are part of the page's design language, so your brand reads as the patron of the coverage, the way print sponsorship used to work.</a:t>
            </a:r>
            <a:endParaRPr lang="en-US" sz="12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PRODUCT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What readers get, all season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2026" y="1521562"/>
            <a:ext cx="175565" cy="175565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78992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hero</a:t>
            </a:r>
            <a:endParaRPr lang="en-US" sz="1250" dirty="0"/>
          </a:p>
        </p:txBody>
      </p:sp>
      <p:sp>
        <p:nvSpPr>
          <p:cNvPr id="7" name="Text 4"/>
          <p:cNvSpPr/>
          <p:nvPr/>
        </p:nvSpPr>
        <p:spPr>
          <a:xfrm>
            <a:off x="1078992" y="161848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Score, down &amp; distance, win probability and latest plays, refreshed every 30 seconds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4700016" y="1426464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95114" y="1521562"/>
            <a:ext cx="175565" cy="175565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12080" y="137160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Standings + the race</a:t>
            </a:r>
            <a:endParaRPr lang="en-US" sz="1250" dirty="0"/>
          </a:p>
        </p:txBody>
      </p:sp>
      <p:sp>
        <p:nvSpPr>
          <p:cNvPr id="11" name="Text 7"/>
          <p:cNvSpPr/>
          <p:nvPr/>
        </p:nvSpPr>
        <p:spPr>
          <a:xfrm>
            <a:off x="5212080" y="1618488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NFC North with form strips, and the division race charted week by week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6928" y="2313432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2026" y="2408530"/>
            <a:ext cx="175565" cy="175565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78992" y="22585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Playoff odds</a:t>
            </a:r>
            <a:endParaRPr lang="en-US" sz="1250" dirty="0"/>
          </a:p>
        </p:txBody>
      </p:sp>
      <p:sp>
        <p:nvSpPr>
          <p:cNvPr id="15" name="Text 10"/>
          <p:cNvSpPr/>
          <p:nvPr/>
        </p:nvSpPr>
        <p:spPr>
          <a:xfrm>
            <a:off x="1078992" y="2505456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4,000-simulation forecast of the January picture, run right in the browser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4700016" y="2313432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795114" y="2408530"/>
            <a:ext cx="175565" cy="175565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212080" y="22585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full schedule</a:t>
            </a:r>
            <a:endParaRPr lang="en-US" sz="1250" dirty="0"/>
          </a:p>
        </p:txBody>
      </p:sp>
      <p:sp>
        <p:nvSpPr>
          <p:cNvPr id="19" name="Text 13"/>
          <p:cNvSpPr/>
          <p:nvPr/>
        </p:nvSpPr>
        <p:spPr>
          <a:xfrm>
            <a:off x="5212080" y="2505456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18 weeks with kickoff, TV and venue; every final opens a box score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66928" y="3200400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21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2026" y="3295498"/>
            <a:ext cx="175565" cy="175565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78992" y="31455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Lambeau forecast</a:t>
            </a:r>
            <a:endParaRPr lang="en-US" sz="1250" dirty="0"/>
          </a:p>
        </p:txBody>
      </p:sp>
      <p:sp>
        <p:nvSpPr>
          <p:cNvPr id="23" name="Text 16"/>
          <p:cNvSpPr/>
          <p:nvPr/>
        </p:nvSpPr>
        <p:spPr>
          <a:xfrm>
            <a:off x="1078992" y="3392424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weather for home games — half the story of December football</a:t>
            </a:r>
            <a:endParaRPr lang="en-US" sz="1050" dirty="0"/>
          </a:p>
        </p:txBody>
      </p:sp>
      <p:sp>
        <p:nvSpPr>
          <p:cNvPr id="24" name="Shape 17"/>
          <p:cNvSpPr/>
          <p:nvPr/>
        </p:nvSpPr>
        <p:spPr>
          <a:xfrm>
            <a:off x="4700016" y="3200400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25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795114" y="3295498"/>
            <a:ext cx="175565" cy="175565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212080" y="314553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film room</a:t>
            </a:r>
            <a:endParaRPr lang="en-US" sz="1250" dirty="0"/>
          </a:p>
        </p:txBody>
      </p:sp>
      <p:sp>
        <p:nvSpPr>
          <p:cNvPr id="27" name="Text 19"/>
          <p:cNvSpPr/>
          <p:nvPr/>
        </p:nvSpPr>
        <p:spPr>
          <a:xfrm>
            <a:off x="5212080" y="3392424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game replayed: win-probability chart, scoring plays, 20+ yard chunk plays</a:t>
            </a:r>
            <a:endParaRPr lang="en-US" sz="1050" dirty="0"/>
          </a:p>
        </p:txBody>
      </p:sp>
      <p:sp>
        <p:nvSpPr>
          <p:cNvPr id="28" name="Shape 20"/>
          <p:cNvSpPr/>
          <p:nvPr/>
        </p:nvSpPr>
        <p:spPr>
          <a:xfrm>
            <a:off x="566928" y="4087368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29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62026" y="4182466"/>
            <a:ext cx="175565" cy="175565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1078992" y="40325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+ player cards</a:t>
            </a:r>
            <a:endParaRPr lang="en-US" sz="1250" dirty="0"/>
          </a:p>
        </p:txBody>
      </p:sp>
      <p:sp>
        <p:nvSpPr>
          <p:cNvPr id="31" name="Text 22"/>
          <p:cNvSpPr/>
          <p:nvPr/>
        </p:nvSpPr>
        <p:spPr>
          <a:xfrm>
            <a:off x="1078992" y="427939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Offense and defense leaders with NFL rank chips; tap any player for their card</a:t>
            </a:r>
            <a:endParaRPr lang="en-US" sz="1050" dirty="0"/>
          </a:p>
        </p:txBody>
      </p:sp>
      <p:sp>
        <p:nvSpPr>
          <p:cNvPr id="32" name="Shape 23"/>
          <p:cNvSpPr/>
          <p:nvPr/>
        </p:nvSpPr>
        <p:spPr>
          <a:xfrm>
            <a:off x="4700016" y="4087368"/>
            <a:ext cx="365760" cy="365760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33" name="Image 7" descr="preencode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795114" y="4182466"/>
            <a:ext cx="175565" cy="175565"/>
          </a:xfrm>
          <a:prstGeom prst="rect">
            <a:avLst/>
          </a:prstGeom>
        </p:spPr>
      </p:pic>
      <p:sp>
        <p:nvSpPr>
          <p:cNvPr id="34" name="Text 24"/>
          <p:cNvSpPr/>
          <p:nvPr/>
        </p:nvSpPr>
        <p:spPr>
          <a:xfrm>
            <a:off x="5212080" y="403250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Alerts + calendar</a:t>
            </a:r>
            <a:endParaRPr lang="en-US" sz="1250" dirty="0"/>
          </a:p>
        </p:txBody>
      </p:sp>
      <p:sp>
        <p:nvSpPr>
          <p:cNvPr id="35" name="Text 25"/>
          <p:cNvSpPr/>
          <p:nvPr/>
        </p:nvSpPr>
        <p:spPr>
          <a:xfrm>
            <a:off x="5212080" y="4279392"/>
            <a:ext cx="3520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Kickoff alerts and a one-click season calendar download</a:t>
            </a:r>
            <a:endParaRPr lang="en-US" sz="10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INVENTORY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Five slots, sold like print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298448"/>
            <a:ext cx="2697480" cy="3401568"/>
          </a:xfrm>
          <a:prstGeom prst="rect">
            <a:avLst/>
          </a:prstGeom>
          <a:solidFill>
            <a:srgbClr val="F7F5F0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713232" y="1389888"/>
            <a:ext cx="24048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804672" y="13990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Masthead + Packers banner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713232" y="1755648"/>
            <a:ext cx="2404872" cy="274320"/>
          </a:xfrm>
          <a:prstGeom prst="rect">
            <a:avLst/>
          </a:prstGeom>
          <a:solidFill>
            <a:srgbClr val="FFB612"/>
          </a:solidFill>
          <a:ln w="12700">
            <a:solidFill>
              <a:srgbClr val="FFB612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804672" y="17647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SPONSOR LOCKUP</a:t>
            </a:r>
            <a:endParaRPr lang="en-US" sz="850" dirty="0"/>
          </a:p>
        </p:txBody>
      </p:sp>
      <p:sp>
        <p:nvSpPr>
          <p:cNvPr id="9" name="Shape 7"/>
          <p:cNvSpPr/>
          <p:nvPr/>
        </p:nvSpPr>
        <p:spPr>
          <a:xfrm>
            <a:off x="713232" y="2121408"/>
            <a:ext cx="2404872" cy="274320"/>
          </a:xfrm>
          <a:prstGeom prst="rect">
            <a:avLst/>
          </a:prstGeom>
          <a:solidFill>
            <a:srgbClr val="FFB612"/>
          </a:solidFill>
          <a:ln w="12700">
            <a:solidFill>
              <a:srgbClr val="FFB61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804672" y="21305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 game hero · credit</a:t>
            </a:r>
            <a:endParaRPr lang="en-US" sz="850" dirty="0"/>
          </a:p>
        </p:txBody>
      </p:sp>
      <p:sp>
        <p:nvSpPr>
          <p:cNvPr id="11" name="Shape 9"/>
          <p:cNvSpPr/>
          <p:nvPr/>
        </p:nvSpPr>
        <p:spPr>
          <a:xfrm>
            <a:off x="713232" y="248716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804672" y="24963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Lambeau forecast · credit</a:t>
            </a:r>
            <a:endParaRPr lang="en-US" sz="850" dirty="0"/>
          </a:p>
        </p:txBody>
      </p:sp>
      <p:sp>
        <p:nvSpPr>
          <p:cNvPr id="13" name="Shape 11"/>
          <p:cNvSpPr/>
          <p:nvPr/>
        </p:nvSpPr>
        <p:spPr>
          <a:xfrm>
            <a:off x="713232" y="2852928"/>
            <a:ext cx="24048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804672" y="286207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Season pulse + standings</a:t>
            </a:r>
            <a:endParaRPr lang="en-US" sz="850" dirty="0"/>
          </a:p>
        </p:txBody>
      </p:sp>
      <p:sp>
        <p:nvSpPr>
          <p:cNvPr id="15" name="Shape 13"/>
          <p:cNvSpPr/>
          <p:nvPr/>
        </p:nvSpPr>
        <p:spPr>
          <a:xfrm>
            <a:off x="713232" y="321868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804672" y="322783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race chart</a:t>
            </a:r>
            <a:endParaRPr lang="en-US" sz="850" dirty="0"/>
          </a:p>
        </p:txBody>
      </p:sp>
      <p:sp>
        <p:nvSpPr>
          <p:cNvPr id="17" name="Shape 15"/>
          <p:cNvSpPr/>
          <p:nvPr/>
        </p:nvSpPr>
        <p:spPr>
          <a:xfrm>
            <a:off x="713232" y="3584448"/>
            <a:ext cx="2404872" cy="27432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18" name="Text 16"/>
          <p:cNvSpPr/>
          <p:nvPr/>
        </p:nvSpPr>
        <p:spPr>
          <a:xfrm>
            <a:off x="804672" y="359359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Schedule + box scores</a:t>
            </a:r>
            <a:endParaRPr lang="en-US" sz="850" dirty="0"/>
          </a:p>
        </p:txBody>
      </p:sp>
      <p:sp>
        <p:nvSpPr>
          <p:cNvPr id="19" name="Shape 17"/>
          <p:cNvSpPr/>
          <p:nvPr/>
        </p:nvSpPr>
        <p:spPr>
          <a:xfrm>
            <a:off x="713232" y="395020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804672" y="395935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watch · venue listing</a:t>
            </a:r>
            <a:endParaRPr lang="en-US" sz="850" dirty="0"/>
          </a:p>
        </p:txBody>
      </p:sp>
      <p:sp>
        <p:nvSpPr>
          <p:cNvPr id="21" name="Shape 19"/>
          <p:cNvSpPr/>
          <p:nvPr/>
        </p:nvSpPr>
        <p:spPr>
          <a:xfrm>
            <a:off x="713232" y="4315968"/>
            <a:ext cx="2404872" cy="274320"/>
          </a:xfrm>
          <a:prstGeom prst="rect">
            <a:avLst/>
          </a:prstGeom>
          <a:solidFill>
            <a:srgbClr val="FFFFFF"/>
          </a:solidFill>
          <a:ln w="15875">
            <a:solidFill>
              <a:srgbClr val="FFB612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804672" y="4325112"/>
            <a:ext cx="2286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+ film room</a:t>
            </a:r>
            <a:endParaRPr lang="en-US" sz="850" dirty="0"/>
          </a:p>
        </p:txBody>
      </p:sp>
      <p:sp>
        <p:nvSpPr>
          <p:cNvPr id="23" name="Text 21"/>
          <p:cNvSpPr/>
          <p:nvPr/>
        </p:nvSpPr>
        <p:spPr>
          <a:xfrm>
            <a:off x="566928" y="4791456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B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■</a:t>
            </a:r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title package    </a:t>
            </a:r>
            <a:pPr indent="0" marL="0">
              <a:buNone/>
            </a:pPr>
            <a:r>
              <a:rPr lang="en-US" sz="100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open slots    </a:t>
            </a:r>
            <a:pPr indent="0" marL="0">
              <a:buNone/>
            </a:pPr>
            <a:r>
              <a:rPr lang="en-US" sz="10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□</a:t>
            </a:r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editorial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3611880" y="1298448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25" name="Shape 23"/>
          <p:cNvSpPr/>
          <p:nvPr/>
        </p:nvSpPr>
        <p:spPr>
          <a:xfrm>
            <a:off x="3611880" y="1298448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26" name="Text 24"/>
          <p:cNvSpPr/>
          <p:nvPr/>
        </p:nvSpPr>
        <p:spPr>
          <a:xfrm>
            <a:off x="3767328" y="1353312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Title sponsorship — the flagship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3767328" y="1591056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Banner lockup + hero credit + email digest logo + calendar credit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7699248" y="1463040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3611880" y="1975104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30" name="Shape 28"/>
          <p:cNvSpPr/>
          <p:nvPr/>
        </p:nvSpPr>
        <p:spPr>
          <a:xfrm>
            <a:off x="3611880" y="1975104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31" name="Text 29"/>
          <p:cNvSpPr/>
          <p:nvPr/>
        </p:nvSpPr>
        <p:spPr>
          <a:xfrm>
            <a:off x="3767328" y="2029968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Lambeau kickoff forecast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3767328" y="2267712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“Presented by” credit on the hero's weather line</a:t>
            </a:r>
            <a:endParaRPr lang="en-US" sz="950" dirty="0"/>
          </a:p>
        </p:txBody>
      </p:sp>
      <p:sp>
        <p:nvSpPr>
          <p:cNvPr id="33" name="Text 31"/>
          <p:cNvSpPr/>
          <p:nvPr/>
        </p:nvSpPr>
        <p:spPr>
          <a:xfrm>
            <a:off x="7699248" y="2139696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611880" y="2651760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3611880" y="2651760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36" name="Text 34"/>
          <p:cNvSpPr/>
          <p:nvPr/>
        </p:nvSpPr>
        <p:spPr>
          <a:xfrm>
            <a:off x="3767328" y="2706624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Division race section</a:t>
            </a:r>
            <a:endParaRPr lang="en-US" sz="1200" dirty="0"/>
          </a:p>
        </p:txBody>
      </p:sp>
      <p:sp>
        <p:nvSpPr>
          <p:cNvPr id="37" name="Text 35"/>
          <p:cNvSpPr/>
          <p:nvPr/>
        </p:nvSpPr>
        <p:spPr>
          <a:xfrm>
            <a:off x="3767328" y="2944368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Lockup beside the season-long NFC North race chart</a:t>
            </a:r>
            <a:endParaRPr lang="en-US" sz="950" dirty="0"/>
          </a:p>
        </p:txBody>
      </p:sp>
      <p:sp>
        <p:nvSpPr>
          <p:cNvPr id="38" name="Text 36"/>
          <p:cNvSpPr/>
          <p:nvPr/>
        </p:nvSpPr>
        <p:spPr>
          <a:xfrm>
            <a:off x="7699248" y="2816352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39" name="Shape 37"/>
          <p:cNvSpPr/>
          <p:nvPr/>
        </p:nvSpPr>
        <p:spPr>
          <a:xfrm>
            <a:off x="3611880" y="3328416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40" name="Shape 38"/>
          <p:cNvSpPr/>
          <p:nvPr/>
        </p:nvSpPr>
        <p:spPr>
          <a:xfrm>
            <a:off x="3611880" y="3328416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41" name="Text 39"/>
          <p:cNvSpPr/>
          <p:nvPr/>
        </p:nvSpPr>
        <p:spPr>
          <a:xfrm>
            <a:off x="3767328" y="3383280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Leaders section</a:t>
            </a:r>
            <a:endParaRPr lang="en-US" sz="1200" dirty="0"/>
          </a:p>
        </p:txBody>
      </p:sp>
      <p:sp>
        <p:nvSpPr>
          <p:cNvPr id="42" name="Text 40"/>
          <p:cNvSpPr/>
          <p:nvPr/>
        </p:nvSpPr>
        <p:spPr>
          <a:xfrm>
            <a:off x="3767328" y="3621024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Lockup beside the offense &amp; defense leader boards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7699248" y="3493008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3611880" y="4005072"/>
            <a:ext cx="4983480" cy="585216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45" name="Shape 43"/>
          <p:cNvSpPr/>
          <p:nvPr/>
        </p:nvSpPr>
        <p:spPr>
          <a:xfrm>
            <a:off x="3611880" y="4005072"/>
            <a:ext cx="41148" cy="585216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46" name="Text 44"/>
          <p:cNvSpPr/>
          <p:nvPr/>
        </p:nvSpPr>
        <p:spPr>
          <a:xfrm>
            <a:off x="3767328" y="4059936"/>
            <a:ext cx="32918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to watch</a:t>
            </a:r>
            <a:endParaRPr lang="en-US" sz="1200" dirty="0"/>
          </a:p>
        </p:txBody>
      </p:sp>
      <p:sp>
        <p:nvSpPr>
          <p:cNvPr id="47" name="Text 45"/>
          <p:cNvSpPr/>
          <p:nvPr/>
        </p:nvSpPr>
        <p:spPr>
          <a:xfrm>
            <a:off x="3767328" y="4297680"/>
            <a:ext cx="3566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full venue listing: photo, amenities, game-day specials</a:t>
            </a:r>
            <a:endParaRPr lang="en-US" sz="950" dirty="0"/>
          </a:p>
        </p:txBody>
      </p:sp>
      <p:sp>
        <p:nvSpPr>
          <p:cNvPr id="48" name="Text 46"/>
          <p:cNvSpPr/>
          <p:nvPr/>
        </p:nvSpPr>
        <p:spPr>
          <a:xfrm>
            <a:off x="7699248" y="4169664"/>
            <a:ext cx="749808" cy="256032"/>
          </a:xfrm>
          <a:prstGeom prst="rect">
            <a:avLst/>
          </a:prstGeom>
          <a:solidFill>
            <a:srgbClr val="FFFFFF"/>
          </a:solidFill>
          <a:ln w="12700">
            <a:solidFill>
              <a:srgbClr val="8A6D0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950" dirty="0"/>
          </a:p>
        </p:txBody>
      </p:sp>
      <p:sp>
        <p:nvSpPr>
          <p:cNvPr id="49" name="Text 47"/>
          <p:cNvSpPr/>
          <p:nvPr/>
        </p:nvSpPr>
        <p:spPr>
          <a:xfrm>
            <a:off x="3611880" y="4681728"/>
            <a:ext cx="498348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1200"/>
              </a:lnSpc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slot is one config line to activate — and one link to preview: add ?demo to the page URL and your prospect sees their placement filled, live.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5F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SEE IT LIVE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Your brand in place, on live data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493776" y="1298448"/>
            <a:ext cx="4992624" cy="1694434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5" name="Image 0" descr="/home/user/wpr-packers-tracker/docs/media/banner-dem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66928" y="1371600"/>
            <a:ext cx="4846320" cy="1548130"/>
          </a:xfrm>
          <a:prstGeom prst="rect">
            <a:avLst/>
          </a:prstGeom>
        </p:spPr>
      </p:pic>
      <p:sp>
        <p:nvSpPr>
          <p:cNvPr id="6" name="Shape 3"/>
          <p:cNvSpPr/>
          <p:nvPr/>
        </p:nvSpPr>
        <p:spPr>
          <a:xfrm>
            <a:off x="493776" y="3035808"/>
            <a:ext cx="4306824" cy="1939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7" name="Image 1" descr="/home/user/wpr-packers-tracker/docs/media/hero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" y="3108960"/>
            <a:ext cx="4160520" cy="1793328"/>
          </a:xfrm>
          <a:prstGeom prst="rect">
            <a:avLst/>
          </a:prstGeom>
        </p:spPr>
      </p:pic>
      <p:sp>
        <p:nvSpPr>
          <p:cNvPr id="8" name="Shape 4"/>
          <p:cNvSpPr/>
          <p:nvPr/>
        </p:nvSpPr>
        <p:spPr>
          <a:xfrm>
            <a:off x="5916168" y="1298448"/>
            <a:ext cx="2478024" cy="1822922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9" name="Image 2" descr="/home/user/wpr-packers-tracker/docs/media/mini-digest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89320" y="1371600"/>
            <a:ext cx="2331720" cy="1676618"/>
          </a:xfrm>
          <a:prstGeom prst="rect">
            <a:avLst/>
          </a:prstGeom>
        </p:spPr>
      </p:pic>
      <p:sp>
        <p:nvSpPr>
          <p:cNvPr id="10" name="Text 5"/>
          <p:cNvSpPr/>
          <p:nvPr/>
        </p:nvSpPr>
        <p:spPr>
          <a:xfrm>
            <a:off x="566928" y="4937760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Left: the title lockup + game hero in sales-demo mode (?demo). Right: the newsletter digest — your logo rides along twice a day.</a:t>
            </a:r>
            <a:endParaRPr lang="en-US" sz="9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DISTRIBUTION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Reach that compounds beyond the page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35" y="1531071"/>
            <a:ext cx="193121" cy="1931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33856" y="1389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Lives in their calendar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33856" y="164592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season-schedule download carries the title sponsor's credit into every kickoff on readers' own phones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2286000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35" y="2390607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33856" y="22494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Installs like an app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33856" y="2505456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Add-to-home-screen and opt-in kickoff alerts pull fans back every game day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6928" y="3145536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35" y="3250143"/>
            <a:ext cx="193121" cy="19312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33856" y="31089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Spreads on social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133856" y="3364992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One-tap share plus a branded card preview wherever links land — Facebook, texts, group chats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66928" y="4005072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35" y="4109679"/>
            <a:ext cx="193121" cy="1931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33856" y="3968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Rides the newsletter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3856" y="4224528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digest is baked into a fresh image twice a day for email — your logo included, in every inbox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358384" y="1737360"/>
            <a:ext cx="3310128" cy="1828800"/>
          </a:xfrm>
          <a:prstGeom prst="rect">
            <a:avLst/>
          </a:prstGeom>
          <a:solidFill>
            <a:srgbClr val="FFFFFF"/>
          </a:solidFill>
          <a:ln w="12700">
            <a:solidFill>
              <a:srgbClr val="E3DDD0"/>
            </a:solidFill>
            <a:prstDash val="solid"/>
          </a:ln>
          <a:effectLst>
            <a:outerShdw sx="100000" sy="100000" kx="0" ky="0" algn="bl" rotWithShape="0" blurRad="101600" dist="38100" dir="8100000">
              <a:srgbClr val="000000">
                <a:alpha val="18000"/>
              </a:srgbClr>
            </a:outerShdw>
          </a:effectLst>
        </p:spPr>
      </p:sp>
      <p:pic>
        <p:nvPicPr>
          <p:cNvPr id="21" name="Image 4" descr="/home/user/wpr-packers-tracker/public/og-car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31536" y="1810512"/>
            <a:ext cx="3163824" cy="1682496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5358384" y="3675888"/>
            <a:ext cx="331012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ts val="1300"/>
              </a:lnSpc>
              <a:buNone/>
            </a:pPr>
            <a:r>
              <a:rPr lang="en-US" sz="100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share card readers post — every share is a branded impression.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94360" y="347472"/>
            <a:ext cx="7955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3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ACCOUNTABILITY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566928" y="566928"/>
            <a:ext cx="795528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7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Measured, not promised</a:t>
            </a:r>
            <a:endParaRPr lang="en-US" sz="2700" dirty="0"/>
          </a:p>
        </p:txBody>
      </p:sp>
      <p:sp>
        <p:nvSpPr>
          <p:cNvPr id="4" name="Shape 2"/>
          <p:cNvSpPr/>
          <p:nvPr/>
        </p:nvSpPr>
        <p:spPr>
          <a:xfrm>
            <a:off x="566928" y="1426464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71535" y="1531071"/>
            <a:ext cx="193121" cy="193121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133856" y="1389888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Privacy-first analytics</a:t>
            </a:r>
            <a:endParaRPr lang="en-US" sz="1300" dirty="0"/>
          </a:p>
        </p:txBody>
      </p:sp>
      <p:sp>
        <p:nvSpPr>
          <p:cNvPr id="7" name="Text 4"/>
          <p:cNvSpPr/>
          <p:nvPr/>
        </p:nvSpPr>
        <p:spPr>
          <a:xfrm>
            <a:off x="1133856" y="1645920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Plausible — cookieless, GDPR-clean, no consent banner. Page views are your impressions.</a:t>
            </a:r>
            <a:endParaRPr lang="en-US" sz="1050" dirty="0"/>
          </a:p>
        </p:txBody>
      </p:sp>
      <p:sp>
        <p:nvSpPr>
          <p:cNvPr id="8" name="Shape 5"/>
          <p:cNvSpPr/>
          <p:nvPr/>
        </p:nvSpPr>
        <p:spPr>
          <a:xfrm>
            <a:off x="566928" y="2286000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71535" y="2390607"/>
            <a:ext cx="193121" cy="193121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1133856" y="2249424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Click-throughs per slot</a:t>
            </a:r>
            <a:endParaRPr lang="en-US" sz="1300" dirty="0"/>
          </a:p>
        </p:txBody>
      </p:sp>
      <p:sp>
        <p:nvSpPr>
          <p:cNvPr id="11" name="Text 7"/>
          <p:cNvSpPr/>
          <p:nvPr/>
        </p:nvSpPr>
        <p:spPr>
          <a:xfrm>
            <a:off x="1133856" y="2505456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sponsor click is tagged with its placement, so you see exactly which surface works</a:t>
            </a:r>
            <a:endParaRPr lang="en-US" sz="1050" dirty="0"/>
          </a:p>
        </p:txBody>
      </p:sp>
      <p:sp>
        <p:nvSpPr>
          <p:cNvPr id="12" name="Shape 8"/>
          <p:cNvSpPr/>
          <p:nvPr/>
        </p:nvSpPr>
        <p:spPr>
          <a:xfrm>
            <a:off x="566928" y="3145536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3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71535" y="3250143"/>
            <a:ext cx="193121" cy="193121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133856" y="3108960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own live dashboard</a:t>
            </a:r>
            <a:endParaRPr lang="en-US" sz="1300" dirty="0"/>
          </a:p>
        </p:txBody>
      </p:sp>
      <p:sp>
        <p:nvSpPr>
          <p:cNvPr id="15" name="Text 10"/>
          <p:cNvSpPr/>
          <p:nvPr/>
        </p:nvSpPr>
        <p:spPr>
          <a:xfrm>
            <a:off x="1133856" y="3364992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public link to your numbers — check impressions and clicks any day of the season</a:t>
            </a:r>
            <a:endParaRPr lang="en-US" sz="1050" dirty="0"/>
          </a:p>
        </p:txBody>
      </p:sp>
      <p:sp>
        <p:nvSpPr>
          <p:cNvPr id="16" name="Shape 11"/>
          <p:cNvSpPr/>
          <p:nvPr/>
        </p:nvSpPr>
        <p:spPr>
          <a:xfrm>
            <a:off x="566928" y="4005072"/>
            <a:ext cx="402336" cy="402336"/>
          </a:xfrm>
          <a:prstGeom prst="ellipse">
            <a:avLst/>
          </a:prstGeom>
          <a:solidFill>
            <a:srgbClr val="203731"/>
          </a:solidFill>
          <a:ln/>
        </p:spPr>
      </p:sp>
      <p:pic>
        <p:nvPicPr>
          <p:cNvPr id="17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71535" y="4109679"/>
            <a:ext cx="193121" cy="193121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133856" y="3968496"/>
            <a:ext cx="374904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A1A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UTM-tagged traffic</a:t>
            </a:r>
            <a:endParaRPr lang="en-US" sz="1300" dirty="0"/>
          </a:p>
        </p:txBody>
      </p:sp>
      <p:sp>
        <p:nvSpPr>
          <p:cNvPr id="19" name="Text 13"/>
          <p:cNvSpPr/>
          <p:nvPr/>
        </p:nvSpPr>
        <p:spPr>
          <a:xfrm>
            <a:off x="1133856" y="4224528"/>
            <a:ext cx="38862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ts val="13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Visits from the tracker arrive labeled in your own analytics, end to end</a:t>
            </a:r>
            <a:endParaRPr lang="en-US" sz="1050" dirty="0"/>
          </a:p>
        </p:txBody>
      </p:sp>
      <p:sp>
        <p:nvSpPr>
          <p:cNvPr id="20" name="Shape 14"/>
          <p:cNvSpPr/>
          <p:nvPr/>
        </p:nvSpPr>
        <p:spPr>
          <a:xfrm>
            <a:off x="5358384" y="1481328"/>
            <a:ext cx="3310128" cy="2651760"/>
          </a:xfrm>
          <a:prstGeom prst="rect">
            <a:avLst/>
          </a:prstGeom>
          <a:solidFill>
            <a:srgbClr val="F7F5F0"/>
          </a:solidFill>
          <a:ln w="12700">
            <a:solidFill>
              <a:srgbClr val="E3DDD0"/>
            </a:solidFill>
            <a:prstDash val="solid"/>
          </a:ln>
        </p:spPr>
      </p:sp>
      <p:sp>
        <p:nvSpPr>
          <p:cNvPr id="21" name="Shape 15"/>
          <p:cNvSpPr/>
          <p:nvPr/>
        </p:nvSpPr>
        <p:spPr>
          <a:xfrm>
            <a:off x="5358384" y="1481328"/>
            <a:ext cx="45720" cy="2651760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22" name="Text 16"/>
          <p:cNvSpPr/>
          <p:nvPr/>
        </p:nvSpPr>
        <p:spPr>
          <a:xfrm>
            <a:off x="5577840" y="1664208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b="1" spc="200" kern="0" dirty="0">
                <a:solidFill>
                  <a:srgbClr val="8A6D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SLOT · MONTHLY REPORT</a:t>
            </a:r>
            <a:endParaRPr lang="en-US" sz="950" dirty="0"/>
          </a:p>
        </p:txBody>
      </p:sp>
      <p:sp>
        <p:nvSpPr>
          <p:cNvPr id="23" name="Text 17"/>
          <p:cNvSpPr/>
          <p:nvPr/>
        </p:nvSpPr>
        <p:spPr>
          <a:xfrm>
            <a:off x="5577840" y="195681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14,800</a:t>
            </a:r>
            <a:endParaRPr lang="en-US" sz="3000" dirty="0"/>
          </a:p>
        </p:txBody>
      </p:sp>
      <p:sp>
        <p:nvSpPr>
          <p:cNvPr id="24" name="Text 18"/>
          <p:cNvSpPr/>
          <p:nvPr/>
        </p:nvSpPr>
        <p:spPr>
          <a:xfrm>
            <a:off x="5577840" y="243230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sponsored impressions</a:t>
            </a:r>
            <a:endParaRPr lang="en-US" sz="1050" dirty="0"/>
          </a:p>
        </p:txBody>
      </p:sp>
      <p:sp>
        <p:nvSpPr>
          <p:cNvPr id="25" name="Text 19"/>
          <p:cNvSpPr/>
          <p:nvPr/>
        </p:nvSpPr>
        <p:spPr>
          <a:xfrm>
            <a:off x="5577840" y="2779776"/>
            <a:ext cx="29260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203731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360</a:t>
            </a:r>
            <a:endParaRPr lang="en-US" sz="3000" dirty="0"/>
          </a:p>
        </p:txBody>
      </p:sp>
      <p:sp>
        <p:nvSpPr>
          <p:cNvPr id="26" name="Text 20"/>
          <p:cNvSpPr/>
          <p:nvPr/>
        </p:nvSpPr>
        <p:spPr>
          <a:xfrm>
            <a:off x="5577840" y="3255264"/>
            <a:ext cx="292608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click-throughs to your site</a:t>
            </a:r>
            <a:endParaRPr lang="en-US" sz="1050" dirty="0"/>
          </a:p>
        </p:txBody>
      </p:sp>
      <p:sp>
        <p:nvSpPr>
          <p:cNvPr id="27" name="Text 21"/>
          <p:cNvSpPr/>
          <p:nvPr/>
        </p:nvSpPr>
        <p:spPr>
          <a:xfrm>
            <a:off x="5577840" y="3767328"/>
            <a:ext cx="29260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Illustrative figures</a:t>
            </a:r>
            <a:endParaRPr lang="en-US" sz="8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203731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85800" y="960120"/>
            <a:ext cx="7772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spc="300" kern="0" dirty="0">
                <a:solidFill>
                  <a:srgbClr val="FFB61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 STEPS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640080" y="1325880"/>
            <a:ext cx="78638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Put your brand in the huddle.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685800" y="2240280"/>
            <a:ext cx="69494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ts val="2000"/>
              </a:lnSpc>
              <a:buNone/>
            </a:pPr>
            <a:r>
              <a:rPr lang="en-US" sz="1400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Packages run from a single-section credit to title sponsorship of the page. Slots activate the same day they're sold — before Week 1 puts the whole state on this page — and your live dashboard link comes with the first invoice.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685800" y="3291840"/>
            <a:ext cx="5120640" cy="1005840"/>
          </a:xfrm>
          <a:prstGeom prst="rect">
            <a:avLst/>
          </a:prstGeom>
          <a:solidFill>
            <a:srgbClr val="FFFFFF"/>
          </a:solidFill>
          <a:ln/>
        </p:spPr>
      </p:sp>
      <p:sp>
        <p:nvSpPr>
          <p:cNvPr id="6" name="Shape 4"/>
          <p:cNvSpPr/>
          <p:nvPr/>
        </p:nvSpPr>
        <p:spPr>
          <a:xfrm>
            <a:off x="685800" y="3291840"/>
            <a:ext cx="45720" cy="1005840"/>
          </a:xfrm>
          <a:prstGeom prst="rect">
            <a:avLst/>
          </a:prstGeom>
          <a:solidFill>
            <a:srgbClr val="FFB612"/>
          </a:solidFill>
          <a:ln/>
        </p:spPr>
      </p:sp>
      <p:sp>
        <p:nvSpPr>
          <p:cNvPr id="7" name="Text 5"/>
          <p:cNvSpPr/>
          <p:nvPr/>
        </p:nvSpPr>
        <p:spPr>
          <a:xfrm>
            <a:off x="914400" y="3438144"/>
            <a:ext cx="47548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20373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sales@wausaupilotandreview.com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914400" y="3749040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6B6B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715-301-5539   ·   602 Ruder St., Wausau, WI 54403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685800" y="4617720"/>
            <a:ext cx="7772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CFD8D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Wausau Pilot &amp; Review — Where Locals Look First For News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The Packers, by the numbers — sponsorship</dc:title>
  <dc:subject>PptxGenJS Presentation</dc:subject>
  <dc:creator>Wausau Pilot &amp; Review</dc:creator>
  <cp:lastModifiedBy>Wausau Pilot &amp; Review</cp:lastModifiedBy>
  <cp:revision>1</cp:revision>
  <dcterms:created xsi:type="dcterms:W3CDTF">2026-07-10T18:56:49Z</dcterms:created>
  <dcterms:modified xsi:type="dcterms:W3CDTF">2026-07-10T18:56:49Z</dcterms:modified>
</cp:coreProperties>
</file>