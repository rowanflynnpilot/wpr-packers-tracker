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037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7772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WAUSAU PILOT &amp; REVIEW  ·  SPONSORSHIP KIT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Packers,</a:t>
            </a:r>
            <a:endParaRPr lang="en-US" sz="40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numbers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85800" y="288036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live, season-long Green Bay Packers stats experience inside Wisconsin's most local news brand — with your name on it.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85800" y="4526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wausaupilotandreview.com   ·   weber.chris@wausaupilotandreview.com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138928" y="2542032"/>
            <a:ext cx="3529584" cy="1947672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7" name="Image 0" descr="C:\Users\rpfly\Projects\wpr-packers-tracker\public\og-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0" y="2615184"/>
            <a:ext cx="3383280" cy="180136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Wisconsin's biggest weekly audience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901952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371600"/>
            <a:ext cx="41148" cy="1481328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48132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days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13232" y="2084832"/>
            <a:ext cx="1645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anticipation around every game — countdown, injuries, matchup, film room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651760" y="1371600"/>
            <a:ext cx="1901952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51760" y="1371600"/>
            <a:ext cx="41148" cy="1481328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10" name="Text 8"/>
          <p:cNvSpPr/>
          <p:nvPr/>
        </p:nvSpPr>
        <p:spPr>
          <a:xfrm>
            <a:off x="2798064" y="148132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30s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2798064" y="2084832"/>
            <a:ext cx="1645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refresh — score, situation and win probability are always live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36592" y="1371600"/>
            <a:ext cx="1901952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36592" y="1371600"/>
            <a:ext cx="41148" cy="1481328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14" name="Text 12"/>
          <p:cNvSpPr/>
          <p:nvPr/>
        </p:nvSpPr>
        <p:spPr>
          <a:xfrm>
            <a:off x="4882896" y="148132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4882896" y="2084832"/>
            <a:ext cx="1645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 slots on one page, from a section credit to the title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821424" y="1371600"/>
            <a:ext cx="1901952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21424" y="1371600"/>
            <a:ext cx="41148" cy="1481328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18" name="Text 16"/>
          <p:cNvSpPr/>
          <p:nvPr/>
        </p:nvSpPr>
        <p:spPr>
          <a:xfrm>
            <a:off x="6967728" y="148132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6967728" y="2084832"/>
            <a:ext cx="1645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cookies — no consent banner between a reader and your brand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66928" y="32004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and gold is the state religion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66928" y="3511296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Wausau Pilot &amp; Review is where central Wisconsin looks first for news — and no team owns this state's attention like the Packers. This page puts your brand inside that Sunday habit, not beside it.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54880" y="32004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Editorial quality, not ad clutter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754880" y="3511296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designed page — no programmatic ads, no pop-ups. Sponsor lockups are part of the page's design language, so your brand reads as the patron of the coverage, the way print sponsorship used to work.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readers get, all season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26464"/>
            <a:ext cx="365760" cy="365760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026" y="1521562"/>
            <a:ext cx="175565" cy="17556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78992" y="13716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game hero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1078992" y="161848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Score, down &amp; distance, win probability and latest plays, refreshed every 30 seconds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700016" y="1426464"/>
            <a:ext cx="365760" cy="365760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5114" y="1521562"/>
            <a:ext cx="175565" cy="17556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212080" y="13716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Standings + the race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5212080" y="161848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NFC North with form strips, and the division race charted week by week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66928" y="2313432"/>
            <a:ext cx="365760" cy="365760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026" y="2408530"/>
            <a:ext cx="175565" cy="17556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078992" y="225856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Playoff odds</a:t>
            </a:r>
            <a:endParaRPr lang="en-US" sz="1250" dirty="0"/>
          </a:p>
        </p:txBody>
      </p:sp>
      <p:sp>
        <p:nvSpPr>
          <p:cNvPr id="15" name="Text 10"/>
          <p:cNvSpPr/>
          <p:nvPr/>
        </p:nvSpPr>
        <p:spPr>
          <a:xfrm>
            <a:off x="1078992" y="2505456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4,000-simulation forecast of the January picture, run right in the browser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4700016" y="2313432"/>
            <a:ext cx="365760" cy="365760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5114" y="2408530"/>
            <a:ext cx="175565" cy="175565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212080" y="225856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schedule</a:t>
            </a:r>
            <a:endParaRPr lang="en-US" sz="1250" dirty="0"/>
          </a:p>
        </p:txBody>
      </p:sp>
      <p:sp>
        <p:nvSpPr>
          <p:cNvPr id="19" name="Text 13"/>
          <p:cNvSpPr/>
          <p:nvPr/>
        </p:nvSpPr>
        <p:spPr>
          <a:xfrm>
            <a:off x="5212080" y="2505456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18 weeks with kickoff, TV and venue; every final opens a box score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566928" y="3200400"/>
            <a:ext cx="365760" cy="365760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026" y="3295498"/>
            <a:ext cx="175565" cy="175565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078992" y="314553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Lambeau forecast</a:t>
            </a:r>
            <a:endParaRPr lang="en-US" sz="1250" dirty="0"/>
          </a:p>
        </p:txBody>
      </p:sp>
      <p:sp>
        <p:nvSpPr>
          <p:cNvPr id="23" name="Text 16"/>
          <p:cNvSpPr/>
          <p:nvPr/>
        </p:nvSpPr>
        <p:spPr>
          <a:xfrm>
            <a:off x="1078992" y="3392424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 weather for home games — half the story of December football</a:t>
            </a:r>
            <a:endParaRPr lang="en-US" sz="1050" dirty="0"/>
          </a:p>
        </p:txBody>
      </p:sp>
      <p:sp>
        <p:nvSpPr>
          <p:cNvPr id="24" name="Shape 17"/>
          <p:cNvSpPr/>
          <p:nvPr/>
        </p:nvSpPr>
        <p:spPr>
          <a:xfrm>
            <a:off x="4700016" y="3200400"/>
            <a:ext cx="365760" cy="365760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95114" y="3295498"/>
            <a:ext cx="175565" cy="175565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5212080" y="314553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film room</a:t>
            </a:r>
            <a:endParaRPr lang="en-US" sz="1250" dirty="0"/>
          </a:p>
        </p:txBody>
      </p:sp>
      <p:sp>
        <p:nvSpPr>
          <p:cNvPr id="27" name="Text 19"/>
          <p:cNvSpPr/>
          <p:nvPr/>
        </p:nvSpPr>
        <p:spPr>
          <a:xfrm>
            <a:off x="5212080" y="3392424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game replayed: win-probability chart, scoring plays, 20+ yard chunk plays</a:t>
            </a:r>
            <a:endParaRPr lang="en-US" sz="1050" dirty="0"/>
          </a:p>
        </p:txBody>
      </p:sp>
      <p:sp>
        <p:nvSpPr>
          <p:cNvPr id="28" name="Shape 20"/>
          <p:cNvSpPr/>
          <p:nvPr/>
        </p:nvSpPr>
        <p:spPr>
          <a:xfrm>
            <a:off x="566928" y="4087368"/>
            <a:ext cx="365760" cy="365760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026" y="4182466"/>
            <a:ext cx="175565" cy="175565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1078992" y="403250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 + player cards</a:t>
            </a:r>
            <a:endParaRPr lang="en-US" sz="1250" dirty="0"/>
          </a:p>
        </p:txBody>
      </p:sp>
      <p:sp>
        <p:nvSpPr>
          <p:cNvPr id="31" name="Text 22"/>
          <p:cNvSpPr/>
          <p:nvPr/>
        </p:nvSpPr>
        <p:spPr>
          <a:xfrm>
            <a:off x="1078992" y="4279392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Offense and defense leaders with NFL rank chips; tap any player for their card</a:t>
            </a:r>
            <a:endParaRPr lang="en-US" sz="1050" dirty="0"/>
          </a:p>
        </p:txBody>
      </p:sp>
      <p:sp>
        <p:nvSpPr>
          <p:cNvPr id="32" name="Shape 23"/>
          <p:cNvSpPr/>
          <p:nvPr/>
        </p:nvSpPr>
        <p:spPr>
          <a:xfrm>
            <a:off x="4700016" y="4087368"/>
            <a:ext cx="365760" cy="365760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95114" y="4182466"/>
            <a:ext cx="175565" cy="175565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5212080" y="403250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+ calendar</a:t>
            </a:r>
            <a:endParaRPr lang="en-US" sz="1250" dirty="0"/>
          </a:p>
        </p:txBody>
      </p:sp>
      <p:sp>
        <p:nvSpPr>
          <p:cNvPr id="35" name="Text 25"/>
          <p:cNvSpPr/>
          <p:nvPr/>
        </p:nvSpPr>
        <p:spPr>
          <a:xfrm>
            <a:off x="5212080" y="4279392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 alerts and a one-click season calendar download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INVENTORY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slots, sold like print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2697480" cy="3401568"/>
          </a:xfrm>
          <a:prstGeom prst="rect">
            <a:avLst/>
          </a:prstGeom>
          <a:solidFill>
            <a:srgbClr val="F7F5F0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389888"/>
            <a:ext cx="2404872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3990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Masthead + Packers banner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13232" y="1755648"/>
            <a:ext cx="2404872" cy="274320"/>
          </a:xfrm>
          <a:prstGeom prst="rect">
            <a:avLst/>
          </a:prstGeom>
          <a:solidFill>
            <a:srgbClr val="FFB612"/>
          </a:solidFill>
          <a:ln w="12700">
            <a:solidFill>
              <a:srgbClr val="FFB61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764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03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SPONSOR LOCKUP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13232" y="2121408"/>
            <a:ext cx="2404872" cy="274320"/>
          </a:xfrm>
          <a:prstGeom prst="rect">
            <a:avLst/>
          </a:prstGeom>
          <a:solidFill>
            <a:srgbClr val="FFB612"/>
          </a:solidFill>
          <a:ln w="12700">
            <a:solidFill>
              <a:srgbClr val="FFB61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" y="21305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03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game hero · credit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713232" y="2487168"/>
            <a:ext cx="2404872" cy="274320"/>
          </a:xfrm>
          <a:prstGeom prst="rect">
            <a:avLst/>
          </a:prstGeom>
          <a:solidFill>
            <a:srgbClr val="FFFFFF"/>
          </a:solidFill>
          <a:ln w="15875">
            <a:solidFill>
              <a:srgbClr val="FFB61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24963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Lambeau forecast · credit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713232" y="2852928"/>
            <a:ext cx="2404872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4672" y="28620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 pulse + standings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13232" y="3218688"/>
            <a:ext cx="2404872" cy="274320"/>
          </a:xfrm>
          <a:prstGeom prst="rect">
            <a:avLst/>
          </a:prstGeom>
          <a:solidFill>
            <a:srgbClr val="FFFFFF"/>
          </a:solidFill>
          <a:ln w="15875">
            <a:solidFill>
              <a:srgbClr val="FFB61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4672" y="32278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 race chart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713232" y="3584448"/>
            <a:ext cx="2404872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" y="35935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+ box scores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713232" y="3950208"/>
            <a:ext cx="2404872" cy="274320"/>
          </a:xfrm>
          <a:prstGeom prst="rect">
            <a:avLst/>
          </a:prstGeom>
          <a:solidFill>
            <a:srgbClr val="FFFFFF"/>
          </a:solidFill>
          <a:ln w="15875">
            <a:solidFill>
              <a:srgbClr val="FFB61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4672" y="39593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Game-day guide · venue listings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13232" y="4315968"/>
            <a:ext cx="2404872" cy="274320"/>
          </a:xfrm>
          <a:prstGeom prst="rect">
            <a:avLst/>
          </a:prstGeom>
          <a:solidFill>
            <a:srgbClr val="FFFFFF"/>
          </a:solidFill>
          <a:ln w="15875">
            <a:solidFill>
              <a:srgbClr val="FFB61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4672" y="43251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 + film room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479145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</a:t>
            </a:r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title package    </a:t>
            </a:r>
            <a:pPr indent="0" marL="0">
              <a:buNone/>
            </a:pPr>
            <a:r>
              <a:rPr lang="en-US" sz="1000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open slots    </a:t>
            </a:r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editorial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11880" y="1298448"/>
            <a:ext cx="498348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11880" y="1298448"/>
            <a:ext cx="41148" cy="585216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26" name="Text 24"/>
          <p:cNvSpPr/>
          <p:nvPr/>
        </p:nvSpPr>
        <p:spPr>
          <a:xfrm>
            <a:off x="3767328" y="135331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sponsorship — the flagship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767328" y="159105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Banner lockup + hero credit + email digest logo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699248" y="1463040"/>
            <a:ext cx="749808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A6D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03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611880" y="1975104"/>
            <a:ext cx="498348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11880" y="1975104"/>
            <a:ext cx="41148" cy="585216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31" name="Text 29"/>
          <p:cNvSpPr/>
          <p:nvPr/>
        </p:nvSpPr>
        <p:spPr>
          <a:xfrm>
            <a:off x="3767328" y="202996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Lambeau kickoff forecast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767328" y="226771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“Presented by” credit on the hero's weather line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699248" y="2139696"/>
            <a:ext cx="749808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A6D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03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611880" y="2651760"/>
            <a:ext cx="498348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611880" y="2651760"/>
            <a:ext cx="41148" cy="585216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36" name="Text 34"/>
          <p:cNvSpPr/>
          <p:nvPr/>
        </p:nvSpPr>
        <p:spPr>
          <a:xfrm>
            <a:off x="3767328" y="270662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 race section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3767328" y="294436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Lockup beside the season-long NFC North race chart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699248" y="2816352"/>
            <a:ext cx="749808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A6D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03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3611880" y="3328416"/>
            <a:ext cx="498348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11880" y="3328416"/>
            <a:ext cx="41148" cy="585216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41" name="Text 39"/>
          <p:cNvSpPr/>
          <p:nvPr/>
        </p:nvSpPr>
        <p:spPr>
          <a:xfrm>
            <a:off x="3767328" y="338328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 section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3767328" y="362102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Lockup beside the offense &amp; defense leader boards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7699248" y="3493008"/>
            <a:ext cx="749808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A6D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03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3611880" y="4005072"/>
            <a:ext cx="498348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11880" y="4005072"/>
            <a:ext cx="41148" cy="585216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46" name="Text 44"/>
          <p:cNvSpPr/>
          <p:nvPr/>
        </p:nvSpPr>
        <p:spPr>
          <a:xfrm>
            <a:off x="3767328" y="405993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Game-day guide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3767328" y="429768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listings sold per listing: photos, amenity chips, game-day specials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7699248" y="4169664"/>
            <a:ext cx="749808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A6D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03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3611880" y="4681728"/>
            <a:ext cx="4983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slot is one config line to activate — and one link to preview: add ?demo to the page URL and your prospect sees their placement filled, live.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 LIVE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brand in place, on live data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93776" y="1298448"/>
            <a:ext cx="4992624" cy="1761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pic>
        <p:nvPicPr>
          <p:cNvPr id="5" name="Image 0" descr="C:\Users\rpfly\Projects\wpr-packers-tracker\docs\media\banner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4846320" cy="16154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93776" y="3035808"/>
            <a:ext cx="4306824" cy="1934337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pic>
        <p:nvPicPr>
          <p:cNvPr id="7" name="Image 1" descr="C:\Users\rpfly\Projects\wpr-packers-tracker\docs\media\her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108960"/>
            <a:ext cx="4160520" cy="1788033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916168" y="1298448"/>
            <a:ext cx="2478024" cy="1834025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pic>
        <p:nvPicPr>
          <p:cNvPr id="9" name="Image 2" descr="C:\Users\rpfly\Projects\wpr-packers-tracker\docs\media\mini-dige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371600"/>
            <a:ext cx="2331720" cy="1687721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566928" y="493776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the title lockup + game hero in sales-demo mode (?demo). Right: the newsletter digest — your logo rides along twice a day.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Reach that compounds beyond the page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26464"/>
            <a:ext cx="402336" cy="402336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1535" y="1531071"/>
            <a:ext cx="193121" cy="19312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33856" y="13898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 in their calendar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133856" y="1645920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season-schedule download carries the title sponsor's credit into every kickoff on readers' own phones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66928" y="2286000"/>
            <a:ext cx="402336" cy="402336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535" y="2390607"/>
            <a:ext cx="193121" cy="193121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33856" y="224942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Installs like an app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1133856" y="2505456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Add-to-home-screen and opt-in kickoff alerts pull fans back every game day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66928" y="3145536"/>
            <a:ext cx="402336" cy="402336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535" y="3250143"/>
            <a:ext cx="193121" cy="19312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33856" y="310896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Spreads on social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1133856" y="3364992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One-tap share plus a branded card preview wherever links land — Facebook, texts, group chats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566928" y="4005072"/>
            <a:ext cx="402336" cy="402336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535" y="4109679"/>
            <a:ext cx="193121" cy="193121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133856" y="396849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Rides the newsletter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1133856" y="4224528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digest is baked into a fresh image twice a day for email — your logo included, in every inbox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5358384" y="1737360"/>
            <a:ext cx="331012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pic>
        <p:nvPicPr>
          <p:cNvPr id="21" name="Image 4" descr="C:\Users\rpfly\Projects\wpr-packers-tracker\public\og-car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1536" y="1810512"/>
            <a:ext cx="3163824" cy="1682496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5358384" y="3675888"/>
            <a:ext cx="3310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share card readers post — every share is a branded impression.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Measured, not promised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26464"/>
            <a:ext cx="402336" cy="402336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1535" y="1531071"/>
            <a:ext cx="193121" cy="19312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33856" y="13898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Privacy-first analytics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133856" y="1645920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Plausible — cookieless, GDPR-clean, no consent banner. Page views are your impressions.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66928" y="2286000"/>
            <a:ext cx="402336" cy="402336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535" y="2390607"/>
            <a:ext cx="193121" cy="193121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33856" y="224942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Click-throughs per slot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1133856" y="2505456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sponsor click is tagged with its placement, so you see exactly which surface works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66928" y="3145536"/>
            <a:ext cx="402336" cy="402336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535" y="3250143"/>
            <a:ext cx="193121" cy="19312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33856" y="310896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live dashboard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1133856" y="3364992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link to your numbers — check impressions and clicks any day of the season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566928" y="4005072"/>
            <a:ext cx="402336" cy="402336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535" y="4109679"/>
            <a:ext cx="193121" cy="193121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133856" y="396849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UTM-tagged traffic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1133856" y="4224528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Visits from the tracker arrive labeled in your own analytics, end to end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5358384" y="1481328"/>
            <a:ext cx="3310128" cy="2651760"/>
          </a:xfrm>
          <a:prstGeom prst="rect">
            <a:avLst/>
          </a:prstGeom>
          <a:solidFill>
            <a:srgbClr val="F7F5F0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5358384" y="1481328"/>
            <a:ext cx="45720" cy="2651760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22" name="Text 16"/>
          <p:cNvSpPr/>
          <p:nvPr/>
        </p:nvSpPr>
        <p:spPr>
          <a:xfrm>
            <a:off x="5577840" y="166420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SLOT · MONTHLY REPORT</a:t>
            </a:r>
            <a:endParaRPr lang="en-US" sz="950" dirty="0"/>
          </a:p>
        </p:txBody>
      </p:sp>
      <p:sp>
        <p:nvSpPr>
          <p:cNvPr id="23" name="Text 17"/>
          <p:cNvSpPr/>
          <p:nvPr/>
        </p:nvSpPr>
        <p:spPr>
          <a:xfrm>
            <a:off x="5577840" y="195681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14,800</a:t>
            </a:r>
            <a:endParaRPr lang="en-US" sz="3000" dirty="0"/>
          </a:p>
        </p:txBody>
      </p:sp>
      <p:sp>
        <p:nvSpPr>
          <p:cNvPr id="24" name="Text 18"/>
          <p:cNvSpPr/>
          <p:nvPr/>
        </p:nvSpPr>
        <p:spPr>
          <a:xfrm>
            <a:off x="5577840" y="243230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sponsored impressions</a:t>
            </a:r>
            <a:endParaRPr lang="en-US" sz="1050" dirty="0"/>
          </a:p>
        </p:txBody>
      </p:sp>
      <p:sp>
        <p:nvSpPr>
          <p:cNvPr id="25" name="Text 19"/>
          <p:cNvSpPr/>
          <p:nvPr/>
        </p:nvSpPr>
        <p:spPr>
          <a:xfrm>
            <a:off x="5577840" y="277977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360</a:t>
            </a:r>
            <a:endParaRPr lang="en-US" sz="3000" dirty="0"/>
          </a:p>
        </p:txBody>
      </p:sp>
      <p:sp>
        <p:nvSpPr>
          <p:cNvPr id="26" name="Text 20"/>
          <p:cNvSpPr/>
          <p:nvPr/>
        </p:nvSpPr>
        <p:spPr>
          <a:xfrm>
            <a:off x="5577840" y="325526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click-throughs to your site</a:t>
            </a:r>
            <a:endParaRPr lang="en-US" sz="1050" dirty="0"/>
          </a:p>
        </p:txBody>
      </p:sp>
      <p:sp>
        <p:nvSpPr>
          <p:cNvPr id="27" name="Text 21"/>
          <p:cNvSpPr/>
          <p:nvPr/>
        </p:nvSpPr>
        <p:spPr>
          <a:xfrm>
            <a:off x="5577840" y="376732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figures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037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9601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Put your brand in the huddle.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224028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run from a single-section credit to title sponsorship of the page. Slots activate the same day they're sold — before Week 1 puts the whole state on this page — and your live dashboard link comes with the first invoice.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3291840"/>
            <a:ext cx="5120640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3291840"/>
            <a:ext cx="45720" cy="1005840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343814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3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weber.chris@wausaupilotandreview.com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374904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715-301-5539   ·   602 Ruder St., Wausau, WI 54403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46177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Wausau Pilot &amp; Review — Where Locals Look First For News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Packers, by the numbers — sponsorship</dc:title>
  <dc:subject>PptxGenJS Presentation</dc:subject>
  <dc:creator>Wausau Pilot &amp; Review</dc:creator>
  <cp:lastModifiedBy>Wausau Pilot &amp; Review</cp:lastModifiedBy>
  <cp:revision>1</cp:revision>
  <dcterms:created xsi:type="dcterms:W3CDTF">2026-07-19T01:19:17Z</dcterms:created>
  <dcterms:modified xsi:type="dcterms:W3CDTF">2026-07-19T01:19:17Z</dcterms:modified>
</cp:coreProperties>
</file>